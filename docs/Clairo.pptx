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CBD5E1"/>
                </a:solidFill>
                <a:latin typeface="Arial"/>
              </a:rPr>
              <a:t>Projected MRR Growth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(₹)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 1</c:v>
                </c:pt>
                <c:pt idx="1">
                  <c:v>Month 3</c:v>
                </c:pt>
                <c:pt idx="2">
                  <c:v>Month 6</c:v>
                </c:pt>
                <c:pt idx="3">
                  <c:v>Month 9</c:v>
                </c:pt>
                <c:pt idx="4">
                  <c:v>Month 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5999</c:v>
                </c:pt>
                <c:pt idx="1">
                  <c:v>17997</c:v>
                </c:pt>
                <c:pt idx="2">
                  <c:v>35994</c:v>
                </c:pt>
                <c:pt idx="3">
                  <c:v>59990</c:v>
                </c:pt>
                <c:pt idx="4">
                  <c:v>89985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8-42EC-A020-C0E8CB0E62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74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Open with the market gap — 80k SAP B1 companies, zero AI chat interface. This is the product that doesn't exist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Walk through top row L→R: User → Next.js → Hono → SAP B1 → BTP. Key point: AI never touches SAP. Hono proxy is the gatekeeper.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Competitor table kills the 'doesn't SAP already do this?' question. Clairo is the only option that works with B1, has AI chat, and is priced for SMEs.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Nearly zero dev cost using free tiers. Break-even at 5 Pro customers. Existing SAP B1 license = zero SAP API cost during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Three roles — Cibi builds, functional team tests, external access in Phase 3 only. Timeline is 16 weeks to first paying customer. Start with Day 1 SAP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 ·  VEDHASOFT AI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Clairo*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business intelligence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SAP Business 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32004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question. Get a chart.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SQL. No reports. No consultant.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36576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D2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657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B1 License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1696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vs  WITH CLAIRO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4407408"/>
            <a:ext cx="1938528" cy="1572768"/>
          </a:xfrm>
          <a:prstGeom prst="roundRect">
            <a:avLst>
              <a:gd name="adj" fmla="val 465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44398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47000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Crystal Reports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4937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IT for a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517550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2 days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541324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static PDF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565099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ask follow-up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0592" y="4407408"/>
            <a:ext cx="1938528" cy="1572768"/>
          </a:xfrm>
          <a:prstGeom prst="roundRect">
            <a:avLst>
              <a:gd name="adj" fmla="val 4651"/>
            </a:avLst>
          </a:prstGeom>
          <a:solidFill>
            <a:srgbClr val="0A1A0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50592" y="444398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CLAIRO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23744" y="47000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question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3744" y="4937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in 3 seconds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23744" y="517550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IT. No SQL.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23744" y="541324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&amp; live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23744" y="565099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follow-ups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309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 ·  June 2026  · 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EXISTS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SAP left open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303520" y="12344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0680" y="13990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3075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80,000+ SAP B1 companies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16184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them has managers who can't access their own data without IT help or Crystal Reports.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21488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0680" y="23134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2219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Joule doesn't cover B1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52160" y="25328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SAP's own AI (Joule) is enterprise S/4HANA only. SAP Business One SME customers get nothing.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30632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40680" y="322783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1363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competitors in this space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52160" y="34472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prompt-to-chart AI exists for SAP B1 today. This is an uncontested market gap.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4041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43891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303520" y="4462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376672" y="498348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a plain-language question  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95160" y="43891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D4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995160" y="4462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068312" y="498348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TypeScript to query SAP B1  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686800" y="43891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686800" y="4462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8759952" y="498348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VM runs it safely  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378440" y="43891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378440" y="4462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10451592" y="498348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or KPI card renders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connects — SAP B1 + BTP + AI</a:t>
            </a:r>
            <a:endParaRPr lang="en-US" sz="2200" dirty="0"/>
          </a:p>
        </p:txBody>
      </p:sp>
      <p:pic>
        <p:nvPicPr>
          <p:cNvPr id="4" name="Image 0" descr="Clairo system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1170432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6144768"/>
            <a:ext cx="2871216" cy="621792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61813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User types prompt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64190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business question in plain language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9544" y="6144768"/>
            <a:ext cx="2871216" cy="621792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00984" y="61813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AI generates code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0984" y="64190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 TypeScript via TanStack AI Code Mode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90488" y="6144768"/>
            <a:ext cx="2871216" cy="621792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81928" y="61813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Proxy validates &amp; calls SAP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81928" y="64190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 checks allowlist, injects session, forwards OData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71432" y="6144768"/>
            <a:ext cx="2871216" cy="621792"/>
          </a:xfrm>
          <a:prstGeom prst="roundRect">
            <a:avLst>
              <a:gd name="adj" fmla="val 11765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262872" y="61813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Chart renders instantly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262872" y="64190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streams result — bar, line, pie, or KPI card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IMPACT &amp; SALABLE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sells — and how big it can get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15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B1 companies worldwide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15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AI chat tools for B1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15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₹5,999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MRR per company (Pro)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105156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E2D4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115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₹30k+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target at 5 Pro customers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3317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852160" y="228600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2542032"/>
            <a:ext cx="6016752" cy="292608"/>
          </a:xfrm>
          <a:prstGeom prst="rect">
            <a:avLst/>
          </a:prstGeom>
          <a:solidFill>
            <a:srgbClr val="1A3255"/>
          </a:solidFill>
          <a:ln w="12700">
            <a:solidFill>
              <a:srgbClr val="1A32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59168" y="254203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Joule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65008" y="254203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Reports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70848" y="254203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076688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Clairo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52160" y="2852928"/>
            <a:ext cx="6016752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52160" y="2852928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SAP B1?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59168" y="2852928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65008" y="2852928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070848" y="2852928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076688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852160" y="3346704"/>
            <a:ext cx="6016752" cy="47548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334670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Chat interface?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59168" y="3346704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65008" y="3346704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070848" y="3346704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076688" y="334670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852160" y="3840480"/>
            <a:ext cx="6016752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3840480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59168" y="384048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065008" y="384048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070848" y="384048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076688" y="384048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852160" y="4334256"/>
            <a:ext cx="6016752" cy="475488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52160" y="4334256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 SME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059168" y="4334256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₹₹₹₹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065008" y="4334256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₹₹₹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070848" y="4334256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₹₹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0076688" y="4334256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852160" y="4828032"/>
            <a:ext cx="6016752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52160" y="482803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 help needed?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059168" y="482803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065008" y="482803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070848" y="482803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0076688" y="482803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852160" y="5394960"/>
            <a:ext cx="6016752" cy="841248"/>
          </a:xfrm>
          <a:prstGeom prst="roundRect">
            <a:avLst>
              <a:gd name="adj" fmla="val 10870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89320" y="5440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989320" y="5687568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SAP B1 companies x Rs3,000 avg = Rs24 Cr/month potential. Even 0.1% share = Rs24 lakh MRR. India-first = defensible moat.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COST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tool, its cost, and 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612880" cy="320040"/>
          </a:xfrm>
          <a:prstGeom prst="rect">
            <a:avLst/>
          </a:prstGeom>
          <a:solidFill>
            <a:srgbClr val="1A3255"/>
          </a:solidFill>
          <a:ln w="12700">
            <a:solidFill>
              <a:srgbClr val="1A32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1115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57276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4447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+ Vercel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44475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streaming UI, deploy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14447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14447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₹0–₹1,800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37944"/>
            <a:ext cx="11612880" cy="402336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1965960"/>
            <a:ext cx="128016" cy="128016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379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18379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AI Code Mode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18379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TypeScript query programs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8379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18379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231136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3591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Sandbox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22311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isolated-vm (Node 24)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AI code safely, V8 isolate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22311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624328"/>
            <a:ext cx="11612880" cy="402336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27523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24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26243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Hono.js on Railway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2624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proxy, oRPC, middleware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624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2624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₹600–₹2,400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017520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" y="314553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3017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pen Models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30175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gen, query understanding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use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0" y="30175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00" dirty="0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B</a:t>
            </a:r>
            <a:r>
              <a:rPr lang="en-US" sz="1000" dirty="0" err="1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ased</a:t>
            </a:r>
            <a:r>
              <a:rPr lang="en-US" sz="1000" dirty="0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 On Models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410712"/>
            <a:ext cx="11612880" cy="402336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" y="35387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107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920240" y="34107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v2 OData v4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34107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SAP B1 REST API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34107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0" y="34107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(licensed)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803904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" y="393192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803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920240" y="38039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Neon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40480" y="3803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history, skills metadata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3803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0" y="38039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₹0–₹600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197096"/>
            <a:ext cx="11612880" cy="402336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2608" y="4325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197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920240" y="4197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— Upstash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41970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skills cache, rate limits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32320" y="4197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686800" y="41970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₹0–₹400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4590288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" y="4718304"/>
            <a:ext cx="128016" cy="128016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5902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920240" y="4590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840480" y="45902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sessions, B1 credential store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132320" y="45902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OSS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686800" y="4590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4983480"/>
            <a:ext cx="11612880" cy="402336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2608" y="51114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983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920240" y="49834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840480" y="49834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billing for SaaS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132320" y="4983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686800" y="49834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per txn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5376672"/>
            <a:ext cx="11612880" cy="40233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2608" y="550468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3766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Partner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920240" y="53766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PartnerEdge Build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3840480" y="53766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sell commercially to others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132320" y="53766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686800" y="53766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₹1.8L/yr (Yr 2+)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74320" y="576072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402336" y="5797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Phase Cost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02336" y="6016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~₹0–₹2,000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402336" y="6345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free tiers across the board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46120" y="576072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3374136" y="5797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Prod/month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3374136" y="6016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~₹3,000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3374136" y="6345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Railway + Neon + Redis + LLM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217920" y="576072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345936" y="5797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345936" y="6016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customers</a:t>
            </a:r>
            <a:endParaRPr lang="en-US" sz="2000" dirty="0"/>
          </a:p>
        </p:txBody>
      </p:sp>
      <p:sp>
        <p:nvSpPr>
          <p:cNvPr id="99" name="Text 97"/>
          <p:cNvSpPr/>
          <p:nvPr/>
        </p:nvSpPr>
        <p:spPr>
          <a:xfrm>
            <a:off x="6345936" y="6345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plan (₹5,999) covers all infra costs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89720" y="576072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1E2D4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9317736" y="5797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9317736" y="6016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~75–85%</a:t>
            </a:r>
            <a:endParaRPr lang="en-US" sz="2000" dirty="0"/>
          </a:p>
        </p:txBody>
      </p:sp>
      <p:sp>
        <p:nvSpPr>
          <p:cNvPr id="103" name="Text 101"/>
          <p:cNvSpPr/>
          <p:nvPr/>
        </p:nvSpPr>
        <p:spPr>
          <a:xfrm>
            <a:off x="9317736" y="6345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10+ customers on Pro plan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ROLES ·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— and when it ships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ACCESS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2212848"/>
          </a:xfrm>
          <a:prstGeom prst="roundRect">
            <a:avLst>
              <a:gd name="adj" fmla="val 4959"/>
            </a:avLst>
          </a:prstGeom>
          <a:solidFill>
            <a:srgbClr val="1E2D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CIBI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Next.js + Hono 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929384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AI Code Mode wiring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212848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Service Layer proxy &amp; sandbox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96312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engineering &amp; skills cache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779776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· DevOps · billing (Razorpay)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06324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Cursor + Claude for 60% of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188720"/>
            <a:ext cx="3749040" cy="2212848"/>
          </a:xfrm>
          <a:prstGeom prst="roundRect">
            <a:avLst>
              <a:gd name="adj" fmla="val 4959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289304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61688" y="164592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on each phase release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61688" y="1929384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prompts against real SAP B1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61688" y="2212848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wrong charts or bad query 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61688" y="2496312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company's own invoices &amp; stock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61688" y="2779776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example business questions to seed the 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61688" y="306324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off before any external beta user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1188720"/>
            <a:ext cx="3749040" cy="2212848"/>
          </a:xfrm>
          <a:prstGeom prst="roundRect">
            <a:avLst>
              <a:gd name="adj" fmla="val 4959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0" y="1289304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39328" y="164592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only — after internal sign-off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39328" y="1929384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SAP B1 customers (read-only their data)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39328" y="2212848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tenant gets isolated credentials in proxy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39328" y="2496312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PartnerEdge partner registration required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39328" y="2779776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access during Phase 1 or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39328" y="3063240"/>
            <a:ext cx="3547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SAP B1 VAR resellers as channel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547872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DELIVERY TIMELINE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803904"/>
            <a:ext cx="11612880" cy="164592"/>
          </a:xfrm>
          <a:prstGeom prst="roundRect">
            <a:avLst>
              <a:gd name="adj" fmla="val 27778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" y="3803904"/>
            <a:ext cx="2830068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14116" y="3803904"/>
            <a:ext cx="4281678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8946" y="3803904"/>
            <a:ext cx="4281678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22608" y="371246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22608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0" y="349300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059936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1E2D45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47472" y="411480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Proof of Concept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" y="43525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– 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7472" y="455371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97480" y="4059936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88920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88920" y="4297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B1 Service Layer auth via Postman. Confirm session cookie + OData response shape.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74920" y="4059936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4297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 proxy scaffold: allowlist, session inject, rate limit. First /Invoices call working.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52360" y="4059936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43800" y="4297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AI Code Mode wired. isolated-vm sandbox running. First prompt → code → result.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829800" y="4059936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21240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921240" y="4297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prompts end-to-end: total invoices, top customers, stock levels. Functional team UAT #1.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4956048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1E2D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47472" y="501091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Beta-Ready Product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47472" y="524865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– 10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47472" y="54498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Cibi + Functional Team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697480" y="4956048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88920" y="5010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5–6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88920" y="519379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sidebar. Skills cache (Redis). All 4 data domains: Sales, Inventory, Finance, Purchasing.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074920" y="4956048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66360" y="5010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7–8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66360" y="519379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rendering (bar, line, pie, KPI cards). Metrics sidebar. Multi-company DB selector.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52360" y="4956048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43800" y="5010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43800" y="519379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 user login. Role-based scoping. Mobile-responsive UI polish.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829800" y="4956048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21240" y="5010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921240" y="519379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internal beta users testing on real company data. Bug fix sprint. UAT #2 sign-off.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585216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1E2D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47472" y="590702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SaaS Launch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47472" y="61447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– 16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47472" y="634593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Cibi + External Beta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97480" y="5852160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88920" y="5907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11–12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788920" y="60899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subscription billing. Tenant onboarding flow. Usage metering per query.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074920" y="5852160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66360" y="5907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166360" y="60899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PartnerEdge Build registration. Docs site + 3-min demo video recorded.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452360" y="5852160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43800" y="5907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43800" y="60899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external beta SAP B1 customers onboarded. Feedback loop. Query success rate tracked.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9829800" y="5852160"/>
            <a:ext cx="2240280" cy="804672"/>
          </a:xfrm>
          <a:prstGeom prst="roundRect">
            <a:avLst>
              <a:gd name="adj" fmla="val 9091"/>
            </a:avLst>
          </a:prstGeom>
          <a:solidFill>
            <a:srgbClr val="16203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921240" y="5907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15–16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921240" y="60899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 go-live. MRR target ₹5,999+. SAP App Centre listing research.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1255</Words>
  <Application>Microsoft Office PowerPoint</Application>
  <PresentationFormat>Widescreen</PresentationFormat>
  <Paragraphs>236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Clairo — SAP B1 AI Platform</dc:title>
  <dc:subject>PptxGenJS Presentation</dc:subject>
  <dc:creator>Cibi — Vedhasoft</dc:creator>
  <cp:lastModifiedBy>CIBI G</cp:lastModifiedBy>
  <cp:revision>5</cp:revision>
  <dcterms:created xsi:type="dcterms:W3CDTF">2026-06-25T20:56:35Z</dcterms:created>
  <dcterms:modified xsi:type="dcterms:W3CDTF">2026-06-30T04:08:35Z</dcterms:modified>
</cp:coreProperties>
</file>